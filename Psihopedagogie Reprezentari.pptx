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EC37B-4848-44A0-B726-BF13982014C0}" v="140" dt="2026-01-05T03:11:02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agu Stefan" userId="526aa5e5777611ec" providerId="Windows Live" clId="Web-{61CEC37B-4848-44A0-B726-BF13982014C0}"/>
    <pc:docChg chg="addSld delSld modSld">
      <pc:chgData name="Neagu Stefan" userId="526aa5e5777611ec" providerId="Windows Live" clId="Web-{61CEC37B-4848-44A0-B726-BF13982014C0}" dt="2026-01-05T03:11:02.617" v="151" actId="20577"/>
      <pc:docMkLst>
        <pc:docMk/>
      </pc:docMkLst>
      <pc:sldChg chg="del">
        <pc:chgData name="Neagu Stefan" userId="526aa5e5777611ec" providerId="Windows Live" clId="Web-{61CEC37B-4848-44A0-B726-BF13982014C0}" dt="2026-01-05T03:05:06.496" v="1"/>
        <pc:sldMkLst>
          <pc:docMk/>
          <pc:sldMk cId="109857222" sldId="256"/>
        </pc:sldMkLst>
      </pc:sldChg>
      <pc:sldChg chg="new del">
        <pc:chgData name="Neagu Stefan" userId="526aa5e5777611ec" providerId="Windows Live" clId="Web-{61CEC37B-4848-44A0-B726-BF13982014C0}" dt="2026-01-05T03:06:24.069" v="30"/>
        <pc:sldMkLst>
          <pc:docMk/>
          <pc:sldMk cId="2282919929" sldId="256"/>
        </pc:sldMkLst>
      </pc:sldChg>
      <pc:sldChg chg="new del">
        <pc:chgData name="Neagu Stefan" userId="526aa5e5777611ec" providerId="Windows Live" clId="Web-{61CEC37B-4848-44A0-B726-BF13982014C0}" dt="2026-01-05T03:06:25.007" v="31"/>
        <pc:sldMkLst>
          <pc:docMk/>
          <pc:sldMk cId="655802000" sldId="257"/>
        </pc:sldMkLst>
      </pc:sldChg>
      <pc:sldChg chg="modSp new del">
        <pc:chgData name="Neagu Stefan" userId="526aa5e5777611ec" providerId="Windows Live" clId="Web-{61CEC37B-4848-44A0-B726-BF13982014C0}" dt="2026-01-05T03:06:13.975" v="26"/>
        <pc:sldMkLst>
          <pc:docMk/>
          <pc:sldMk cId="986898314" sldId="257"/>
        </pc:sldMkLst>
        <pc:spChg chg="mod">
          <ac:chgData name="Neagu Stefan" userId="526aa5e5777611ec" providerId="Windows Live" clId="Web-{61CEC37B-4848-44A0-B726-BF13982014C0}" dt="2026-01-05T03:06:09.037" v="22" actId="20577"/>
          <ac:spMkLst>
            <pc:docMk/>
            <pc:sldMk cId="986898314" sldId="257"/>
            <ac:spMk id="2" creationId="{43AAC008-FC88-147D-160F-48CF37A79CEC}"/>
          </ac:spMkLst>
        </pc:spChg>
        <pc:spChg chg="mod">
          <ac:chgData name="Neagu Stefan" userId="526aa5e5777611ec" providerId="Windows Live" clId="Web-{61CEC37B-4848-44A0-B726-BF13982014C0}" dt="2026-01-05T03:06:12.100" v="25" actId="20577"/>
          <ac:spMkLst>
            <pc:docMk/>
            <pc:sldMk cId="986898314" sldId="257"/>
            <ac:spMk id="3" creationId="{CCFA466B-7D1C-A9FD-F06D-9BCD0867871E}"/>
          </ac:spMkLst>
        </pc:spChg>
      </pc:sldChg>
      <pc:sldChg chg="modSp new">
        <pc:chgData name="Neagu Stefan" userId="526aa5e5777611ec" providerId="Windows Live" clId="Web-{61CEC37B-4848-44A0-B726-BF13982014C0}" dt="2026-01-05T03:11:02.617" v="151" actId="20577"/>
        <pc:sldMkLst>
          <pc:docMk/>
          <pc:sldMk cId="3044036300" sldId="258"/>
        </pc:sldMkLst>
        <pc:spChg chg="mod">
          <ac:chgData name="Neagu Stefan" userId="526aa5e5777611ec" providerId="Windows Live" clId="Web-{61CEC37B-4848-44A0-B726-BF13982014C0}" dt="2026-01-05T03:06:31.632" v="33" actId="20577"/>
          <ac:spMkLst>
            <pc:docMk/>
            <pc:sldMk cId="3044036300" sldId="258"/>
            <ac:spMk id="2" creationId="{34AFBB49-29E0-22C9-ACD4-541D63E4927D}"/>
          </ac:spMkLst>
        </pc:spChg>
        <pc:spChg chg="mod">
          <ac:chgData name="Neagu Stefan" userId="526aa5e5777611ec" providerId="Windows Live" clId="Web-{61CEC37B-4848-44A0-B726-BF13982014C0}" dt="2026-01-05T03:11:02.617" v="151" actId="20577"/>
          <ac:spMkLst>
            <pc:docMk/>
            <pc:sldMk cId="3044036300" sldId="258"/>
            <ac:spMk id="3" creationId="{DCCA31A3-434F-E108-6A4A-0F5A5EAA6842}"/>
          </ac:spMkLst>
        </pc:spChg>
      </pc:sldChg>
      <pc:sldChg chg="modSp new">
        <pc:chgData name="Neagu Stefan" userId="526aa5e5777611ec" providerId="Windows Live" clId="Web-{61CEC37B-4848-44A0-B726-BF13982014C0}" dt="2026-01-05T03:10:58.898" v="147" actId="20577"/>
        <pc:sldMkLst>
          <pc:docMk/>
          <pc:sldMk cId="3137158757" sldId="259"/>
        </pc:sldMkLst>
        <pc:spChg chg="mod">
          <ac:chgData name="Neagu Stefan" userId="526aa5e5777611ec" providerId="Windows Live" clId="Web-{61CEC37B-4848-44A0-B726-BF13982014C0}" dt="2026-01-05T03:07:13.181" v="58" actId="20577"/>
          <ac:spMkLst>
            <pc:docMk/>
            <pc:sldMk cId="3137158757" sldId="259"/>
            <ac:spMk id="2" creationId="{A35D1BCA-7BD7-F7FB-1187-A4AA38D1D7D9}"/>
          </ac:spMkLst>
        </pc:spChg>
        <pc:spChg chg="mod">
          <ac:chgData name="Neagu Stefan" userId="526aa5e5777611ec" providerId="Windows Live" clId="Web-{61CEC37B-4848-44A0-B726-BF13982014C0}" dt="2026-01-05T03:10:58.898" v="147" actId="20577"/>
          <ac:spMkLst>
            <pc:docMk/>
            <pc:sldMk cId="3137158757" sldId="259"/>
            <ac:spMk id="3" creationId="{6CF80F4F-33CE-0B7A-5098-8283C83C71B0}"/>
          </ac:spMkLst>
        </pc:spChg>
      </pc:sldChg>
      <pc:sldChg chg="modSp new">
        <pc:chgData name="Neagu Stefan" userId="526aa5e5777611ec" providerId="Windows Live" clId="Web-{61CEC37B-4848-44A0-B726-BF13982014C0}" dt="2026-01-05T03:10:56.242" v="144" actId="20577"/>
        <pc:sldMkLst>
          <pc:docMk/>
          <pc:sldMk cId="3662941517" sldId="260"/>
        </pc:sldMkLst>
        <pc:spChg chg="mod">
          <ac:chgData name="Neagu Stefan" userId="526aa5e5777611ec" providerId="Windows Live" clId="Web-{61CEC37B-4848-44A0-B726-BF13982014C0}" dt="2026-01-05T03:07:33.073" v="66" actId="20577"/>
          <ac:spMkLst>
            <pc:docMk/>
            <pc:sldMk cId="3662941517" sldId="260"/>
            <ac:spMk id="2" creationId="{2C09EAD6-0236-80A4-3C2B-D6F667DB17C4}"/>
          </ac:spMkLst>
        </pc:spChg>
        <pc:spChg chg="mod">
          <ac:chgData name="Neagu Stefan" userId="526aa5e5777611ec" providerId="Windows Live" clId="Web-{61CEC37B-4848-44A0-B726-BF13982014C0}" dt="2026-01-05T03:10:56.242" v="144" actId="20577"/>
          <ac:spMkLst>
            <pc:docMk/>
            <pc:sldMk cId="3662941517" sldId="260"/>
            <ac:spMk id="3" creationId="{9A21BDE5-77C5-1C7A-E0B4-9E35AC622789}"/>
          </ac:spMkLst>
        </pc:spChg>
      </pc:sldChg>
      <pc:sldChg chg="modSp new">
        <pc:chgData name="Neagu Stefan" userId="526aa5e5777611ec" providerId="Windows Live" clId="Web-{61CEC37B-4848-44A0-B726-BF13982014C0}" dt="2026-01-05T03:10:52.054" v="141" actId="20577"/>
        <pc:sldMkLst>
          <pc:docMk/>
          <pc:sldMk cId="85573668" sldId="261"/>
        </pc:sldMkLst>
        <pc:spChg chg="mod">
          <ac:chgData name="Neagu Stefan" userId="526aa5e5777611ec" providerId="Windows Live" clId="Web-{61CEC37B-4848-44A0-B726-BF13982014C0}" dt="2026-01-05T03:07:48.246" v="74" actId="20577"/>
          <ac:spMkLst>
            <pc:docMk/>
            <pc:sldMk cId="85573668" sldId="261"/>
            <ac:spMk id="2" creationId="{733AB65F-CE84-C84C-EA52-85E00D89E697}"/>
          </ac:spMkLst>
        </pc:spChg>
        <pc:spChg chg="mod">
          <ac:chgData name="Neagu Stefan" userId="526aa5e5777611ec" providerId="Windows Live" clId="Web-{61CEC37B-4848-44A0-B726-BF13982014C0}" dt="2026-01-05T03:10:52.054" v="141" actId="20577"/>
          <ac:spMkLst>
            <pc:docMk/>
            <pc:sldMk cId="85573668" sldId="261"/>
            <ac:spMk id="3" creationId="{29A432AA-E767-DEC4-CD4E-458DA4FCBE77}"/>
          </ac:spMkLst>
        </pc:spChg>
      </pc:sldChg>
      <pc:sldChg chg="modSp new">
        <pc:chgData name="Neagu Stefan" userId="526aa5e5777611ec" providerId="Windows Live" clId="Web-{61CEC37B-4848-44A0-B726-BF13982014C0}" dt="2026-01-05T03:10:49.116" v="139" actId="20577"/>
        <pc:sldMkLst>
          <pc:docMk/>
          <pc:sldMk cId="1250244271" sldId="262"/>
        </pc:sldMkLst>
        <pc:spChg chg="mod">
          <ac:chgData name="Neagu Stefan" userId="526aa5e5777611ec" providerId="Windows Live" clId="Web-{61CEC37B-4848-44A0-B726-BF13982014C0}" dt="2026-01-05T03:08:11.424" v="82" actId="20577"/>
          <ac:spMkLst>
            <pc:docMk/>
            <pc:sldMk cId="1250244271" sldId="262"/>
            <ac:spMk id="2" creationId="{5F2267EB-BDFE-DB49-6007-8C98A62194A5}"/>
          </ac:spMkLst>
        </pc:spChg>
        <pc:spChg chg="mod">
          <ac:chgData name="Neagu Stefan" userId="526aa5e5777611ec" providerId="Windows Live" clId="Web-{61CEC37B-4848-44A0-B726-BF13982014C0}" dt="2026-01-05T03:10:49.116" v="139" actId="20577"/>
          <ac:spMkLst>
            <pc:docMk/>
            <pc:sldMk cId="1250244271" sldId="262"/>
            <ac:spMk id="3" creationId="{FCE03F4E-3750-0678-1194-393C86F58CA8}"/>
          </ac:spMkLst>
        </pc:spChg>
      </pc:sldChg>
      <pc:sldChg chg="modSp new">
        <pc:chgData name="Neagu Stefan" userId="526aa5e5777611ec" providerId="Windows Live" clId="Web-{61CEC37B-4848-44A0-B726-BF13982014C0}" dt="2026-01-05T03:10:44.694" v="136" actId="20577"/>
        <pc:sldMkLst>
          <pc:docMk/>
          <pc:sldMk cId="1619166617" sldId="263"/>
        </pc:sldMkLst>
        <pc:spChg chg="mod">
          <ac:chgData name="Neagu Stefan" userId="526aa5e5777611ec" providerId="Windows Live" clId="Web-{61CEC37B-4848-44A0-B726-BF13982014C0}" dt="2026-01-05T03:08:41.722" v="96" actId="20577"/>
          <ac:spMkLst>
            <pc:docMk/>
            <pc:sldMk cId="1619166617" sldId="263"/>
            <ac:spMk id="2" creationId="{34FDC166-8694-A655-3F68-0C8DAE563267}"/>
          </ac:spMkLst>
        </pc:spChg>
        <pc:spChg chg="mod">
          <ac:chgData name="Neagu Stefan" userId="526aa5e5777611ec" providerId="Windows Live" clId="Web-{61CEC37B-4848-44A0-B726-BF13982014C0}" dt="2026-01-05T03:10:44.694" v="136" actId="20577"/>
          <ac:spMkLst>
            <pc:docMk/>
            <pc:sldMk cId="1619166617" sldId="263"/>
            <ac:spMk id="3" creationId="{1CB765CE-D3E9-2A43-CACC-ADB806164641}"/>
          </ac:spMkLst>
        </pc:spChg>
      </pc:sldChg>
      <pc:sldChg chg="modSp new del">
        <pc:chgData name="Neagu Stefan" userId="526aa5e5777611ec" providerId="Windows Live" clId="Web-{61CEC37B-4848-44A0-B726-BF13982014C0}" dt="2026-01-05T03:08:32.847" v="93"/>
        <pc:sldMkLst>
          <pc:docMk/>
          <pc:sldMk cId="1717329459" sldId="263"/>
        </pc:sldMkLst>
        <pc:spChg chg="mod">
          <ac:chgData name="Neagu Stefan" userId="526aa5e5777611ec" providerId="Windows Live" clId="Web-{61CEC37B-4848-44A0-B726-BF13982014C0}" dt="2026-01-05T03:08:29.518" v="92" actId="20577"/>
          <ac:spMkLst>
            <pc:docMk/>
            <pc:sldMk cId="1717329459" sldId="263"/>
            <ac:spMk id="2" creationId="{8AD6E805-9F14-DE4A-DD82-C8099014101D}"/>
          </ac:spMkLst>
        </pc:spChg>
      </pc:sldChg>
      <pc:sldChg chg="modSp new">
        <pc:chgData name="Neagu Stefan" userId="526aa5e5777611ec" providerId="Windows Live" clId="Web-{61CEC37B-4848-44A0-B726-BF13982014C0}" dt="2026-01-05T03:10:41.179" v="134" actId="20577"/>
        <pc:sldMkLst>
          <pc:docMk/>
          <pc:sldMk cId="3307514149" sldId="264"/>
        </pc:sldMkLst>
        <pc:spChg chg="mod">
          <ac:chgData name="Neagu Stefan" userId="526aa5e5777611ec" providerId="Windows Live" clId="Web-{61CEC37B-4848-44A0-B726-BF13982014C0}" dt="2026-01-05T03:08:59.160" v="102" actId="20577"/>
          <ac:spMkLst>
            <pc:docMk/>
            <pc:sldMk cId="3307514149" sldId="264"/>
            <ac:spMk id="2" creationId="{2F4CBFB6-CF9B-3BD7-1A49-AD85CF2ACDF0}"/>
          </ac:spMkLst>
        </pc:spChg>
        <pc:spChg chg="mod">
          <ac:chgData name="Neagu Stefan" userId="526aa5e5777611ec" providerId="Windows Live" clId="Web-{61CEC37B-4848-44A0-B726-BF13982014C0}" dt="2026-01-05T03:10:41.179" v="134" actId="20577"/>
          <ac:spMkLst>
            <pc:docMk/>
            <pc:sldMk cId="3307514149" sldId="264"/>
            <ac:spMk id="3" creationId="{74296536-4323-CCF4-556B-A9F08EE60796}"/>
          </ac:spMkLst>
        </pc:spChg>
      </pc:sldChg>
      <pc:sldChg chg="modSp new">
        <pc:chgData name="Neagu Stefan" userId="526aa5e5777611ec" providerId="Windows Live" clId="Web-{61CEC37B-4848-44A0-B726-BF13982014C0}" dt="2026-01-05T03:09:22.911" v="113" actId="20577"/>
        <pc:sldMkLst>
          <pc:docMk/>
          <pc:sldMk cId="1945587712" sldId="265"/>
        </pc:sldMkLst>
        <pc:spChg chg="mod">
          <ac:chgData name="Neagu Stefan" userId="526aa5e5777611ec" providerId="Windows Live" clId="Web-{61CEC37B-4848-44A0-B726-BF13982014C0}" dt="2026-01-05T03:09:17.004" v="110" actId="20577"/>
          <ac:spMkLst>
            <pc:docMk/>
            <pc:sldMk cId="1945587712" sldId="265"/>
            <ac:spMk id="2" creationId="{67315779-53BA-C874-4E94-63BB49295867}"/>
          </ac:spMkLst>
        </pc:spChg>
        <pc:spChg chg="mod">
          <ac:chgData name="Neagu Stefan" userId="526aa5e5777611ec" providerId="Windows Live" clId="Web-{61CEC37B-4848-44A0-B726-BF13982014C0}" dt="2026-01-05T03:09:22.911" v="113" actId="20577"/>
          <ac:spMkLst>
            <pc:docMk/>
            <pc:sldMk cId="1945587712" sldId="265"/>
            <ac:spMk id="3" creationId="{08AB13E7-ACCE-83BC-88B6-F7C5772D516B}"/>
          </ac:spMkLst>
        </pc:spChg>
      </pc:sldChg>
      <pc:sldChg chg="modSp new">
        <pc:chgData name="Neagu Stefan" userId="526aa5e5777611ec" providerId="Windows Live" clId="Web-{61CEC37B-4848-44A0-B726-BF13982014C0}" dt="2026-01-05T03:09:46.287" v="126" actId="20577"/>
        <pc:sldMkLst>
          <pc:docMk/>
          <pc:sldMk cId="358195152" sldId="266"/>
        </pc:sldMkLst>
        <pc:spChg chg="mod">
          <ac:chgData name="Neagu Stefan" userId="526aa5e5777611ec" providerId="Windows Live" clId="Web-{61CEC37B-4848-44A0-B726-BF13982014C0}" dt="2026-01-05T03:09:37.911" v="116" actId="20577"/>
          <ac:spMkLst>
            <pc:docMk/>
            <pc:sldMk cId="358195152" sldId="266"/>
            <ac:spMk id="2" creationId="{D6F46832-04D5-426B-5114-B3114F67E976}"/>
          </ac:spMkLst>
        </pc:spChg>
        <pc:spChg chg="mod">
          <ac:chgData name="Neagu Stefan" userId="526aa5e5777611ec" providerId="Windows Live" clId="Web-{61CEC37B-4848-44A0-B726-BF13982014C0}" dt="2026-01-05T03:09:46.287" v="126" actId="20577"/>
          <ac:spMkLst>
            <pc:docMk/>
            <pc:sldMk cId="358195152" sldId="266"/>
            <ac:spMk id="3" creationId="{2DCA3B83-E18C-1999-9B60-22696E2F6FDA}"/>
          </ac:spMkLst>
        </pc:spChg>
      </pc:sldChg>
      <pc:sldChg chg="modSp new">
        <pc:chgData name="Neagu Stefan" userId="526aa5e5777611ec" providerId="Windows Live" clId="Web-{61CEC37B-4848-44A0-B726-BF13982014C0}" dt="2026-01-05T03:10:38.429" v="131" actId="20577"/>
        <pc:sldMkLst>
          <pc:docMk/>
          <pc:sldMk cId="3242372648" sldId="267"/>
        </pc:sldMkLst>
        <pc:spChg chg="mod">
          <ac:chgData name="Neagu Stefan" userId="526aa5e5777611ec" providerId="Windows Live" clId="Web-{61CEC37B-4848-44A0-B726-BF13982014C0}" dt="2026-01-05T03:09:53.365" v="129" actId="20577"/>
          <ac:spMkLst>
            <pc:docMk/>
            <pc:sldMk cId="3242372648" sldId="267"/>
            <ac:spMk id="2" creationId="{36138930-0929-5F44-6D2D-9D358DCAB96B}"/>
          </ac:spMkLst>
        </pc:spChg>
        <pc:spChg chg="mod">
          <ac:chgData name="Neagu Stefan" userId="526aa5e5777611ec" providerId="Windows Live" clId="Web-{61CEC37B-4848-44A0-B726-BF13982014C0}" dt="2026-01-05T03:10:38.429" v="131" actId="20577"/>
          <ac:spMkLst>
            <pc:docMk/>
            <pc:sldMk cId="3242372648" sldId="267"/>
            <ac:spMk id="3" creationId="{0B9CAACD-58A3-E7EB-109F-079BE0EC7E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BB49-29E0-22C9-ACD4-541D63E4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Geneza </a:t>
            </a:r>
            <a:r>
              <a:rPr lang="en-US" dirty="0" err="1">
                <a:ea typeface="+mj-lt"/>
                <a:cs typeface="+mj-lt"/>
              </a:rPr>
              <a:t>Reprezentării</a:t>
            </a:r>
            <a:r>
              <a:rPr lang="en-US" dirty="0">
                <a:ea typeface="+mj-lt"/>
                <a:cs typeface="+mj-lt"/>
              </a:rPr>
              <a:t> 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31A3-434F-E108-6A4A-0F5A5EAA6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err="1">
                <a:ea typeface="+mn-lt"/>
                <a:cs typeface="+mn-lt"/>
              </a:rPr>
              <a:t>Sistemul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cognitiv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evoluat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gestiona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informații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absența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stimulilor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trecând</a:t>
            </a:r>
            <a:r>
              <a:rPr lang="en-US" dirty="0">
                <a:ea typeface="+mn-lt"/>
                <a:cs typeface="+mn-lt"/>
              </a:rPr>
              <a:t> de la </a:t>
            </a:r>
            <a:r>
              <a:rPr lang="en-US" err="1">
                <a:ea typeface="+mn-lt"/>
                <a:cs typeface="+mn-lt"/>
              </a:rPr>
              <a:t>imaginea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primară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dependentă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obiect</a:t>
            </a:r>
            <a:r>
              <a:rPr lang="en-US" dirty="0">
                <a:ea typeface="+mn-lt"/>
                <a:cs typeface="+mn-lt"/>
              </a:rPr>
              <a:t>) la </a:t>
            </a:r>
            <a:r>
              <a:rPr lang="en-US" err="1">
                <a:ea typeface="+mn-lt"/>
                <a:cs typeface="+mn-lt"/>
              </a:rPr>
              <a:t>cea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secundară</a:t>
            </a:r>
            <a:r>
              <a:rPr lang="en-US" dirty="0">
                <a:ea typeface="+mn-lt"/>
                <a:cs typeface="+mn-lt"/>
              </a:rPr>
              <a:t> (re-</a:t>
            </a:r>
            <a:r>
              <a:rPr lang="en-US" err="1">
                <a:ea typeface="+mn-lt"/>
                <a:cs typeface="+mn-lt"/>
              </a:rPr>
              <a:t>exprimare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realității</a:t>
            </a:r>
            <a:r>
              <a:rPr lang="en-US" dirty="0">
                <a:ea typeface="+mn-lt"/>
                <a:cs typeface="+mn-lt"/>
              </a:rPr>
              <a:t>). Prin </a:t>
            </a:r>
            <a:r>
              <a:rPr lang="en-US" err="1">
                <a:ea typeface="+mn-lt"/>
                <a:cs typeface="+mn-lt"/>
              </a:rPr>
              <a:t>acest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mecanism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individul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desprinde</a:t>
            </a:r>
            <a:r>
              <a:rPr lang="en-US" dirty="0">
                <a:ea typeface="+mn-lt"/>
                <a:cs typeface="+mn-lt"/>
              </a:rPr>
              <a:t> de „</a:t>
            </a:r>
            <a:r>
              <a:rPr lang="en-US" err="1">
                <a:ea typeface="+mn-lt"/>
                <a:cs typeface="+mn-lt"/>
              </a:rPr>
              <a:t>aici</a:t>
            </a:r>
            <a:r>
              <a:rPr lang="en-US" dirty="0">
                <a:ea typeface="+mn-lt"/>
                <a:cs typeface="+mn-lt"/>
              </a:rPr>
              <a:t>”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„</a:t>
            </a:r>
            <a:r>
              <a:rPr lang="en-US" err="1">
                <a:ea typeface="+mn-lt"/>
                <a:cs typeface="+mn-lt"/>
              </a:rPr>
              <a:t>acum</a:t>
            </a:r>
            <a:r>
              <a:rPr lang="en-US" dirty="0">
                <a:ea typeface="+mn-lt"/>
                <a:cs typeface="+mn-lt"/>
              </a:rPr>
              <a:t>”, </a:t>
            </a:r>
            <a:r>
              <a:rPr lang="en-US" err="1">
                <a:ea typeface="+mn-lt"/>
                <a:cs typeface="+mn-lt"/>
              </a:rPr>
              <a:t>dobândind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capacitatea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 opera </a:t>
            </a:r>
            <a:r>
              <a:rPr lang="en-US" err="1">
                <a:ea typeface="+mn-lt"/>
                <a:cs typeface="+mn-lt"/>
              </a:rPr>
              <a:t>mintal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err="1">
                <a:ea typeface="+mn-lt"/>
                <a:cs typeface="+mn-lt"/>
              </a:rPr>
              <a:t>obiecte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dispărute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anticipate.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Cercetătorul</a:t>
            </a:r>
            <a:r>
              <a:rPr lang="en-US" dirty="0">
                <a:ea typeface="+mn-lt"/>
                <a:cs typeface="+mn-lt"/>
              </a:rPr>
              <a:t> Shepard </a:t>
            </a:r>
            <a:r>
              <a:rPr lang="en-US" dirty="0" err="1">
                <a:ea typeface="+mn-lt"/>
                <a:cs typeface="+mn-lt"/>
              </a:rPr>
              <a:t>susține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capacitate </a:t>
            </a:r>
            <a:r>
              <a:rPr lang="en-US" dirty="0" err="1">
                <a:ea typeface="+mn-lt"/>
                <a:cs typeface="+mn-lt"/>
              </a:rPr>
              <a:t>implică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interiorizarea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constrângerilor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spațiale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permițând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informațiilor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lipsă</a:t>
            </a:r>
            <a:r>
              <a:rPr lang="en-US" dirty="0">
                <a:ea typeface="+mn-lt"/>
                <a:cs typeface="+mn-lt"/>
              </a:rPr>
              <a:t> (ex: </a:t>
            </a:r>
            <a:r>
              <a:rPr lang="en-US" dirty="0" err="1">
                <a:ea typeface="+mn-lt"/>
                <a:cs typeface="+mn-lt"/>
              </a:rPr>
              <a:t>spațiul</a:t>
            </a:r>
            <a:r>
              <a:rPr lang="en-US" dirty="0">
                <a:ea typeface="+mn-lt"/>
                <a:cs typeface="+mn-lt"/>
              </a:rPr>
              <a:t> din </a:t>
            </a:r>
            <a:r>
              <a:rPr lang="en-US" dirty="0" err="1">
                <a:ea typeface="+mn-lt"/>
                <a:cs typeface="+mn-lt"/>
              </a:rPr>
              <a:t>spatele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obstacol</a:t>
            </a:r>
            <a:r>
              <a:rPr lang="en-US" dirty="0">
                <a:ea typeface="+mn-lt"/>
                <a:cs typeface="+mn-lt"/>
              </a:rPr>
              <a:t>). </a:t>
            </a:r>
            <a:r>
              <a:rPr lang="en-US" dirty="0" err="1">
                <a:ea typeface="+mn-lt"/>
                <a:cs typeface="+mn-lt"/>
              </a:rPr>
              <a:t>Astfel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nu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simplă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copie</a:t>
            </a:r>
            <a:r>
              <a:rPr lang="en-US" dirty="0">
                <a:ea typeface="+mn-lt"/>
                <a:cs typeface="+mn-lt"/>
              </a:rPr>
              <a:t>, ci o </a:t>
            </a:r>
            <a:r>
              <a:rPr lang="en-US" dirty="0" err="1">
                <a:ea typeface="+mn-lt"/>
                <a:cs typeface="+mn-lt"/>
              </a:rPr>
              <a:t>reconstrucție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activă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conservă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structura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informațională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obiectului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03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1BCA-7BD7-F7FB-1187-A4AA38D1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Distincția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dintre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Realitate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Reprezentare</a:t>
            </a:r>
            <a:r>
              <a:rPr lang="en-US" dirty="0">
                <a:ea typeface="+mj-lt"/>
                <a:cs typeface="+mj-lt"/>
              </a:rPr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0F4F-33CE-0B7A-5098-8283C83C7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 err="1">
                <a:ea typeface="+mn-lt"/>
                <a:cs typeface="+mn-lt"/>
              </a:rPr>
              <a:t>Experimentul</a:t>
            </a:r>
            <a:r>
              <a:rPr lang="en-US" dirty="0">
                <a:ea typeface="+mn-lt"/>
                <a:cs typeface="+mn-lt"/>
              </a:rPr>
              <a:t> „</a:t>
            </a:r>
            <a:r>
              <a:rPr lang="en-US" dirty="0" err="1">
                <a:ea typeface="+mn-lt"/>
                <a:cs typeface="+mn-lt"/>
              </a:rPr>
              <a:t>cutiei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bomboane</a:t>
            </a:r>
            <a:r>
              <a:rPr lang="en-US" dirty="0">
                <a:ea typeface="+mn-lt"/>
                <a:cs typeface="+mn-lt"/>
              </a:rPr>
              <a:t>” </a:t>
            </a:r>
            <a:r>
              <a:rPr lang="en-US" dirty="0" err="1">
                <a:ea typeface="+mn-lt"/>
                <a:cs typeface="+mn-lt"/>
              </a:rPr>
              <a:t>realizat</a:t>
            </a:r>
            <a:r>
              <a:rPr lang="en-US" dirty="0">
                <a:ea typeface="+mn-lt"/>
                <a:cs typeface="+mn-lt"/>
              </a:rPr>
              <a:t> de Gopnik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Ashington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arătat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preșcolarii</a:t>
            </a:r>
            <a:r>
              <a:rPr lang="en-US" dirty="0">
                <a:ea typeface="+mn-lt"/>
                <a:cs typeface="+mn-lt"/>
              </a:rPr>
              <a:t> de 3 ani </a:t>
            </a:r>
            <a:r>
              <a:rPr lang="en-US" dirty="0" err="1">
                <a:ea typeface="+mn-lt"/>
                <a:cs typeface="+mn-lt"/>
              </a:rPr>
              <a:t>confundă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falsă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anterioară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realitatea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curentă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afirmând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au </a:t>
            </a:r>
            <a:r>
              <a:rPr lang="en-US" dirty="0" err="1">
                <a:ea typeface="+mn-lt"/>
                <a:cs typeface="+mn-lt"/>
              </a:rPr>
              <a:t>știut</a:t>
            </a:r>
            <a:r>
              <a:rPr lang="en-US" dirty="0">
                <a:ea typeface="+mn-lt"/>
                <a:cs typeface="+mn-lt"/>
              </a:rPr>
              <a:t> de la </a:t>
            </a:r>
            <a:r>
              <a:rPr lang="en-US" dirty="0" err="1">
                <a:ea typeface="+mn-lt"/>
                <a:cs typeface="+mn-lt"/>
              </a:rPr>
              <a:t>început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conținutul</a:t>
            </a:r>
            <a:r>
              <a:rPr lang="en-US" dirty="0">
                <a:ea typeface="+mn-lt"/>
                <a:cs typeface="+mn-lt"/>
              </a:rPr>
              <a:t> real. </a:t>
            </a:r>
            <a:r>
              <a:rPr lang="en-US" dirty="0" err="1">
                <a:ea typeface="+mn-lt"/>
                <a:cs typeface="+mn-lt"/>
              </a:rPr>
              <a:t>Totuși</a:t>
            </a:r>
            <a:r>
              <a:rPr lang="en-US" dirty="0">
                <a:ea typeface="+mn-lt"/>
                <a:cs typeface="+mn-lt"/>
              </a:rPr>
              <a:t>, Peter Mitchell a </a:t>
            </a:r>
            <a:r>
              <a:rPr lang="en-US" dirty="0" err="1">
                <a:ea typeface="+mn-lt"/>
                <a:cs typeface="+mn-lt"/>
              </a:rPr>
              <a:t>demonstrat</a:t>
            </a:r>
            <a:r>
              <a:rPr lang="en-US" dirty="0">
                <a:ea typeface="+mn-lt"/>
                <a:cs typeface="+mn-lt"/>
              </a:rPr>
              <a:t> ulterior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utilizarea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suporților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vizuali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reactiva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amintirea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credinței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inițiale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sugerând</a:t>
            </a:r>
            <a:r>
              <a:rPr lang="en-US" dirty="0">
                <a:ea typeface="+mn-lt"/>
                <a:cs typeface="+mn-lt"/>
              </a:rPr>
              <a:t> o capacitate </a:t>
            </a:r>
            <a:r>
              <a:rPr lang="en-US" dirty="0" err="1">
                <a:ea typeface="+mn-lt"/>
                <a:cs typeface="+mn-lt"/>
              </a:rPr>
              <a:t>latentă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Jean Piaget </a:t>
            </a:r>
            <a:r>
              <a:rPr lang="en-US" dirty="0" err="1">
                <a:ea typeface="+mn-lt"/>
                <a:cs typeface="+mn-lt"/>
              </a:rPr>
              <a:t>situează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emergența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clară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funcției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reprezentative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finalul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stadiului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senzorio</a:t>
            </a:r>
            <a:r>
              <a:rPr lang="en-US" dirty="0">
                <a:ea typeface="+mn-lt"/>
                <a:cs typeface="+mn-lt"/>
              </a:rPr>
              <a:t>-motor (</a:t>
            </a:r>
            <a:r>
              <a:rPr lang="en-US" dirty="0" err="1">
                <a:ea typeface="+mn-lt"/>
                <a:cs typeface="+mn-lt"/>
              </a:rPr>
              <a:t>cca</a:t>
            </a:r>
            <a:r>
              <a:rPr lang="en-US" dirty="0">
                <a:ea typeface="+mn-lt"/>
                <a:cs typeface="+mn-lt"/>
              </a:rPr>
              <a:t>. 2 ani).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marcată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apariția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funcției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semiotice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vizibilă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conduite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complexe</a:t>
            </a:r>
            <a:r>
              <a:rPr lang="en-US" dirty="0">
                <a:ea typeface="+mn-lt"/>
                <a:cs typeface="+mn-lt"/>
              </a:rPr>
              <a:t> precum </a:t>
            </a:r>
            <a:r>
              <a:rPr lang="en-US" dirty="0" err="1">
                <a:ea typeface="+mn-lt"/>
                <a:cs typeface="+mn-lt"/>
              </a:rPr>
              <a:t>imitația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amânată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jocul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simbolic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desenul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limbajul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5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EAD6-0236-80A4-3C2B-D6F667DB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Similaritatea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Percepție</a:t>
            </a:r>
            <a:r>
              <a:rPr lang="en-US" dirty="0">
                <a:ea typeface="+mj-lt"/>
                <a:cs typeface="+mj-lt"/>
              </a:rPr>
              <a:t> - </a:t>
            </a:r>
            <a:r>
              <a:rPr lang="en-US" dirty="0" err="1">
                <a:ea typeface="+mj-lt"/>
                <a:cs typeface="+mj-lt"/>
              </a:rPr>
              <a:t>Reprezentare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1BDE5-77C5-1C7A-E0B4-9E35AC62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 err="1">
                <a:ea typeface="+mn-lt"/>
                <a:cs typeface="+mn-lt"/>
              </a:rPr>
              <a:t>Experimentul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clasic</a:t>
            </a:r>
            <a:r>
              <a:rPr lang="en-US" dirty="0">
                <a:ea typeface="+mn-lt"/>
                <a:cs typeface="+mn-lt"/>
              </a:rPr>
              <a:t> al </a:t>
            </a:r>
            <a:r>
              <a:rPr lang="en-US" dirty="0" err="1">
                <a:ea typeface="+mn-lt"/>
                <a:cs typeface="+mn-lt"/>
              </a:rPr>
              <a:t>lui</a:t>
            </a:r>
            <a:r>
              <a:rPr lang="en-US" dirty="0">
                <a:ea typeface="+mn-lt"/>
                <a:cs typeface="+mn-lt"/>
              </a:rPr>
              <a:t> Perky a </a:t>
            </a:r>
            <a:r>
              <a:rPr lang="en-US" dirty="0" err="1">
                <a:ea typeface="+mn-lt"/>
                <a:cs typeface="+mn-lt"/>
              </a:rPr>
              <a:t>demonstrat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subiecții</a:t>
            </a:r>
            <a:r>
              <a:rPr lang="en-US" dirty="0">
                <a:ea typeface="+mn-lt"/>
                <a:cs typeface="+mn-lt"/>
              </a:rPr>
              <a:t> pot </a:t>
            </a:r>
            <a:r>
              <a:rPr lang="en-US" dirty="0" err="1">
                <a:ea typeface="+mn-lt"/>
                <a:cs typeface="+mn-lt"/>
              </a:rPr>
              <a:t>confunda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proiecție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slabă</a:t>
            </a:r>
            <a:r>
              <a:rPr lang="en-US" dirty="0">
                <a:ea typeface="+mn-lt"/>
                <a:cs typeface="+mn-lt"/>
              </a:rPr>
              <a:t> pe </a:t>
            </a:r>
            <a:r>
              <a:rPr lang="en-US" dirty="0" err="1">
                <a:ea typeface="+mn-lt"/>
                <a:cs typeface="+mn-lt"/>
              </a:rPr>
              <a:t>ecran</a:t>
            </a:r>
            <a:r>
              <a:rPr lang="en-US" dirty="0">
                <a:ea typeface="+mn-lt"/>
                <a:cs typeface="+mn-lt"/>
              </a:rPr>
              <a:t> cu propria imagine </a:t>
            </a:r>
            <a:r>
              <a:rPr lang="en-US" dirty="0" err="1">
                <a:ea typeface="+mn-lt"/>
                <a:cs typeface="+mn-lt"/>
              </a:rPr>
              <a:t>mintală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indicând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mecanisme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neurale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comune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ipoteză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confirmată</a:t>
            </a:r>
            <a:r>
              <a:rPr lang="en-US" dirty="0">
                <a:ea typeface="+mn-lt"/>
                <a:cs typeface="+mn-lt"/>
              </a:rPr>
              <a:t> de Podgorny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Shepard, care au </a:t>
            </a:r>
            <a:r>
              <a:rPr lang="en-US" dirty="0" err="1">
                <a:ea typeface="+mn-lt"/>
                <a:cs typeface="+mn-lt"/>
              </a:rPr>
              <a:t>găsit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timpi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reacție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identici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verificarea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detaliilor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indiferent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stimulul</a:t>
            </a:r>
            <a:r>
              <a:rPr lang="en-US" dirty="0">
                <a:ea typeface="+mn-lt"/>
                <a:cs typeface="+mn-lt"/>
              </a:rPr>
              <a:t> era real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imaginat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Neurobiologul</a:t>
            </a:r>
            <a:r>
              <a:rPr lang="en-US" dirty="0">
                <a:ea typeface="+mn-lt"/>
                <a:cs typeface="+mn-lt"/>
              </a:rPr>
              <a:t> Changeux </a:t>
            </a:r>
            <a:r>
              <a:rPr lang="en-US" dirty="0" err="1">
                <a:ea typeface="+mn-lt"/>
                <a:cs typeface="+mn-lt"/>
              </a:rPr>
              <a:t>argumentează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existența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baze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materiale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comune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între</a:t>
            </a:r>
            <a:r>
              <a:rPr lang="en-US" dirty="0">
                <a:ea typeface="+mn-lt"/>
                <a:cs typeface="+mn-lt"/>
              </a:rPr>
              <a:t> percept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lucru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susținut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observații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clinice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leziunile</a:t>
            </a:r>
            <a:r>
              <a:rPr lang="en-US" dirty="0">
                <a:ea typeface="+mn-lt"/>
                <a:cs typeface="+mn-lt"/>
              </a:rPr>
              <a:t> care </a:t>
            </a:r>
            <a:r>
              <a:rPr lang="en-US" dirty="0" err="1">
                <a:ea typeface="+mn-lt"/>
                <a:cs typeface="+mn-lt"/>
              </a:rPr>
              <a:t>afectează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percepția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vizuală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deterioreze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egală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măsură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capacitatea</a:t>
            </a:r>
            <a:r>
              <a:rPr lang="en-US" dirty="0">
                <a:ea typeface="+mn-lt"/>
                <a:cs typeface="+mn-lt"/>
              </a:rPr>
              <a:t> de a genera </a:t>
            </a:r>
            <a:r>
              <a:rPr lang="en-US" dirty="0" err="1">
                <a:ea typeface="+mn-lt"/>
                <a:cs typeface="+mn-lt"/>
              </a:rPr>
              <a:t>sau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manipula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4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B65F-CE84-C84C-EA52-85E00D89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Competiție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Rol </a:t>
            </a:r>
            <a:r>
              <a:rPr lang="en-US" dirty="0" err="1">
                <a:ea typeface="+mj-lt"/>
                <a:cs typeface="+mj-lt"/>
              </a:rPr>
              <a:t>Inferențial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432AA-E767-DEC4-CD4E-458DA4FCB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Deși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similare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procesele</a:t>
            </a:r>
            <a:r>
              <a:rPr lang="en-US" dirty="0">
                <a:ea typeface="+mn-lt"/>
                <a:cs typeface="+mn-lt"/>
              </a:rPr>
              <a:t> pot intra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conflict, </a:t>
            </a:r>
            <a:r>
              <a:rPr lang="en-US" dirty="0" err="1">
                <a:ea typeface="+mn-lt"/>
                <a:cs typeface="+mn-lt"/>
              </a:rPr>
              <a:t>fapt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arătat</a:t>
            </a:r>
            <a:r>
              <a:rPr lang="en-US" dirty="0">
                <a:ea typeface="+mn-lt"/>
                <a:cs typeface="+mn-lt"/>
              </a:rPr>
              <a:t> de Segal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Fusella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evocarea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vizuale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crește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pragul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detectare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unui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stimul</a:t>
            </a:r>
            <a:r>
              <a:rPr lang="en-US" dirty="0">
                <a:ea typeface="+mn-lt"/>
                <a:cs typeface="+mn-lt"/>
              </a:rPr>
              <a:t> real pe </a:t>
            </a:r>
            <a:r>
              <a:rPr lang="en-US" dirty="0" err="1">
                <a:ea typeface="+mn-lt"/>
                <a:cs typeface="+mn-lt"/>
              </a:rPr>
              <a:t>același</a:t>
            </a:r>
            <a:r>
              <a:rPr lang="en-US" dirty="0">
                <a:ea typeface="+mn-lt"/>
                <a:cs typeface="+mn-lt"/>
              </a:rPr>
              <a:t> canal, </a:t>
            </a:r>
            <a:r>
              <a:rPr lang="en-US" dirty="0" err="1">
                <a:ea typeface="+mn-lt"/>
                <a:cs typeface="+mn-lt"/>
              </a:rPr>
              <a:t>demonstrând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competiția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resurse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neuronale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Dincolo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competiție</a:t>
            </a:r>
            <a:r>
              <a:rPr lang="en-US" dirty="0">
                <a:ea typeface="+mn-lt"/>
                <a:cs typeface="+mn-lt"/>
              </a:rPr>
              <a:t>, Fodor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Pylyshyn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subliniază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rolul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inferențial</a:t>
            </a:r>
            <a:r>
              <a:rPr lang="en-US" dirty="0">
                <a:ea typeface="+mn-lt"/>
                <a:cs typeface="+mn-lt"/>
              </a:rPr>
              <a:t> al </a:t>
            </a:r>
            <a:r>
              <a:rPr lang="en-US" dirty="0" err="1">
                <a:ea typeface="+mn-lt"/>
                <a:cs typeface="+mn-lt"/>
              </a:rPr>
              <a:t>reprezentării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Percepția</a:t>
            </a:r>
            <a:r>
              <a:rPr lang="en-US" dirty="0">
                <a:ea typeface="+mn-lt"/>
                <a:cs typeface="+mn-lt"/>
              </a:rPr>
              <a:t> nu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pasivă</a:t>
            </a:r>
            <a:r>
              <a:rPr lang="en-US" dirty="0">
                <a:ea typeface="+mn-lt"/>
                <a:cs typeface="+mn-lt"/>
              </a:rPr>
              <a:t>, ci </a:t>
            </a:r>
            <a:r>
              <a:rPr lang="en-US" dirty="0" err="1">
                <a:ea typeface="+mn-lt"/>
                <a:cs typeface="+mn-lt"/>
              </a:rPr>
              <a:t>interpretativă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diferența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vedea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luminiță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a o </a:t>
            </a:r>
            <a:r>
              <a:rPr lang="en-US" dirty="0" err="1">
                <a:ea typeface="+mn-lt"/>
                <a:cs typeface="+mn-lt"/>
              </a:rPr>
              <a:t>vedea</a:t>
            </a:r>
            <a:r>
              <a:rPr lang="en-US" dirty="0">
                <a:ea typeface="+mn-lt"/>
                <a:cs typeface="+mn-lt"/>
              </a:rPr>
              <a:t> *ca </a:t>
            </a:r>
            <a:r>
              <a:rPr lang="en-US" dirty="0" err="1">
                <a:ea typeface="+mn-lt"/>
                <a:cs typeface="+mn-lt"/>
              </a:rPr>
              <a:t>fiind</a:t>
            </a:r>
            <a:r>
              <a:rPr lang="en-US" dirty="0">
                <a:ea typeface="+mn-lt"/>
                <a:cs typeface="+mn-lt"/>
              </a:rPr>
              <a:t>* Steaua </a:t>
            </a:r>
            <a:r>
              <a:rPr lang="en-US" dirty="0" err="1">
                <a:ea typeface="+mn-lt"/>
                <a:cs typeface="+mn-lt"/>
              </a:rPr>
              <a:t>Polară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rezidă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activată</a:t>
            </a:r>
            <a:r>
              <a:rPr lang="en-US" dirty="0">
                <a:ea typeface="+mn-lt"/>
                <a:cs typeface="+mn-lt"/>
              </a:rPr>
              <a:t>, care </a:t>
            </a:r>
            <a:r>
              <a:rPr lang="en-US" dirty="0" err="1">
                <a:ea typeface="+mn-lt"/>
                <a:cs typeface="+mn-lt"/>
              </a:rPr>
              <a:t>oferă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informației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senzoriale</a:t>
            </a:r>
            <a:r>
              <a:rPr lang="en-US" dirty="0">
                <a:ea typeface="+mn-lt"/>
                <a:cs typeface="+mn-lt"/>
              </a:rPr>
              <a:t> brute.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3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67EB-BDFE-DB49-6007-8C98A621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Natura </a:t>
            </a:r>
            <a:r>
              <a:rPr lang="en-US" dirty="0" err="1">
                <a:ea typeface="+mj-lt"/>
                <a:cs typeface="+mj-lt"/>
              </a:rPr>
              <a:t>Imaginii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3F4E-3750-0678-1194-393C86F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Shepard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Metzler au </a:t>
            </a:r>
            <a:r>
              <a:rPr lang="en-US" dirty="0" err="1">
                <a:ea typeface="+mn-lt"/>
                <a:cs typeface="+mn-lt"/>
              </a:rPr>
              <a:t>validat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caracterul</a:t>
            </a:r>
            <a:r>
              <a:rPr lang="en-US" dirty="0">
                <a:ea typeface="+mn-lt"/>
                <a:cs typeface="+mn-lt"/>
              </a:rPr>
              <a:t> „material” al </a:t>
            </a:r>
            <a:r>
              <a:rPr lang="en-US" dirty="0" err="1">
                <a:ea typeface="+mn-lt"/>
                <a:cs typeface="+mn-lt"/>
              </a:rPr>
              <a:t>imaginilor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experimente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rotație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mintală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obiectelor</a:t>
            </a:r>
            <a:r>
              <a:rPr lang="en-US" dirty="0">
                <a:ea typeface="+mn-lt"/>
                <a:cs typeface="+mn-lt"/>
              </a:rPr>
              <a:t> 3D. </a:t>
            </a:r>
            <a:r>
              <a:rPr lang="en-US" dirty="0" err="1">
                <a:ea typeface="+mn-lt"/>
                <a:cs typeface="+mn-lt"/>
              </a:rPr>
              <a:t>Există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corelație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liniară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unghiul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rotație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timpul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răspuns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lucru</a:t>
            </a:r>
            <a:r>
              <a:rPr lang="en-US" dirty="0">
                <a:ea typeface="+mn-lt"/>
                <a:cs typeface="+mn-lt"/>
              </a:rPr>
              <a:t> care </a:t>
            </a:r>
            <a:r>
              <a:rPr lang="en-US" dirty="0" err="1">
                <a:ea typeface="+mn-lt"/>
                <a:cs typeface="+mn-lt"/>
              </a:rPr>
              <a:t>sugerează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imaginile</a:t>
            </a:r>
            <a:r>
              <a:rPr lang="en-US" dirty="0">
                <a:ea typeface="+mn-lt"/>
                <a:cs typeface="+mn-lt"/>
              </a:rPr>
              <a:t> sunt manipulate </a:t>
            </a:r>
            <a:r>
              <a:rPr lang="en-US" dirty="0" err="1">
                <a:ea typeface="+mn-lt"/>
                <a:cs typeface="+mn-lt"/>
              </a:rPr>
              <a:t>într</a:t>
            </a:r>
            <a:r>
              <a:rPr lang="en-US" dirty="0">
                <a:ea typeface="+mn-lt"/>
                <a:cs typeface="+mn-lt"/>
              </a:rPr>
              <a:t>-un </a:t>
            </a:r>
            <a:r>
              <a:rPr lang="en-US" dirty="0" err="1">
                <a:ea typeface="+mn-lt"/>
                <a:cs typeface="+mn-lt"/>
              </a:rPr>
              <a:t>spațiu</a:t>
            </a:r>
            <a:r>
              <a:rPr lang="en-US" dirty="0">
                <a:ea typeface="+mn-lt"/>
                <a:cs typeface="+mn-lt"/>
              </a:rPr>
              <a:t> analogic, </a:t>
            </a:r>
            <a:r>
              <a:rPr lang="en-US" dirty="0" err="1">
                <a:ea typeface="+mn-lt"/>
                <a:cs typeface="+mn-lt"/>
              </a:rPr>
              <a:t>izomorf</a:t>
            </a:r>
            <a:r>
              <a:rPr lang="en-US" dirty="0">
                <a:ea typeface="+mn-lt"/>
                <a:cs typeface="+mn-lt"/>
              </a:rPr>
              <a:t> cu cel </a:t>
            </a:r>
            <a:r>
              <a:rPr lang="en-US" dirty="0" err="1">
                <a:ea typeface="+mn-lt"/>
                <a:cs typeface="+mn-lt"/>
              </a:rPr>
              <a:t>fizic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Boden </a:t>
            </a:r>
            <a:r>
              <a:rPr lang="en-US" dirty="0" err="1">
                <a:ea typeface="+mn-lt"/>
                <a:cs typeface="+mn-lt"/>
              </a:rPr>
              <a:t>descrie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fenomen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drept</a:t>
            </a:r>
            <a:r>
              <a:rPr lang="en-US" dirty="0">
                <a:ea typeface="+mn-lt"/>
                <a:cs typeface="+mn-lt"/>
              </a:rPr>
              <a:t> un „</a:t>
            </a:r>
            <a:r>
              <a:rPr lang="en-US" dirty="0" err="1">
                <a:ea typeface="+mn-lt"/>
                <a:cs typeface="+mn-lt"/>
              </a:rPr>
              <a:t>simulacru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cvasispațial</a:t>
            </a:r>
            <a:r>
              <a:rPr lang="en-US" dirty="0">
                <a:ea typeface="+mn-lt"/>
                <a:cs typeface="+mn-lt"/>
              </a:rPr>
              <a:t>”, </a:t>
            </a:r>
            <a:r>
              <a:rPr lang="en-US" dirty="0" err="1">
                <a:ea typeface="+mn-lt"/>
                <a:cs typeface="+mn-lt"/>
              </a:rPr>
              <a:t>unde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transformările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mentale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respectă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constrângerile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fizice</a:t>
            </a:r>
            <a:r>
              <a:rPr lang="en-US" dirty="0">
                <a:ea typeface="+mn-lt"/>
                <a:cs typeface="+mn-lt"/>
              </a:rPr>
              <a:t> ale </a:t>
            </a:r>
            <a:r>
              <a:rPr lang="en-US" dirty="0" err="1">
                <a:ea typeface="+mn-lt"/>
                <a:cs typeface="+mn-lt"/>
              </a:rPr>
              <a:t>lumii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Faptul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necesită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timp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a fi </a:t>
            </a:r>
            <a:r>
              <a:rPr lang="en-US" dirty="0" err="1">
                <a:ea typeface="+mn-lt"/>
                <a:cs typeface="+mn-lt"/>
              </a:rPr>
              <a:t>rotită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demonstrează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operează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proprietăți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spațiale</a:t>
            </a:r>
            <a:r>
              <a:rPr lang="en-US" dirty="0">
                <a:ea typeface="+mn-lt"/>
                <a:cs typeface="+mn-lt"/>
              </a:rPr>
              <a:t> concrete, nu 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propoziții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logice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abstracte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4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C166-8694-A655-3F68-0C8DAE56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Proprietăți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Metrice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65CE-D3E9-2A43-CACC-ADB806164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Stephen </a:t>
            </a:r>
            <a:r>
              <a:rPr lang="en-US" dirty="0" err="1">
                <a:ea typeface="+mn-lt"/>
                <a:cs typeface="+mn-lt"/>
              </a:rPr>
              <a:t>Kosslyn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explorat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conservarea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distanțelor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experimentul</a:t>
            </a:r>
            <a:r>
              <a:rPr lang="en-US" dirty="0">
                <a:ea typeface="+mn-lt"/>
                <a:cs typeface="+mn-lt"/>
              </a:rPr>
              <a:t> „</a:t>
            </a:r>
            <a:r>
              <a:rPr lang="en-US" dirty="0" err="1">
                <a:ea typeface="+mn-lt"/>
                <a:cs typeface="+mn-lt"/>
              </a:rPr>
              <a:t>insulei</a:t>
            </a:r>
            <a:r>
              <a:rPr lang="en-US" dirty="0">
                <a:ea typeface="+mn-lt"/>
                <a:cs typeface="+mn-lt"/>
              </a:rPr>
              <a:t>”, </a:t>
            </a:r>
            <a:r>
              <a:rPr lang="en-US" dirty="0" err="1">
                <a:ea typeface="+mn-lt"/>
                <a:cs typeface="+mn-lt"/>
              </a:rPr>
              <a:t>cerând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subiecților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parcurgă</a:t>
            </a:r>
            <a:r>
              <a:rPr lang="en-US" dirty="0">
                <a:ea typeface="+mn-lt"/>
                <a:cs typeface="+mn-lt"/>
              </a:rPr>
              <a:t> mental </a:t>
            </a:r>
            <a:r>
              <a:rPr lang="en-US" dirty="0" err="1">
                <a:ea typeface="+mn-lt"/>
                <a:cs typeface="+mn-lt"/>
              </a:rPr>
              <a:t>trasee</a:t>
            </a:r>
            <a:r>
              <a:rPr lang="en-US" dirty="0">
                <a:ea typeface="+mn-lt"/>
                <a:cs typeface="+mn-lt"/>
              </a:rPr>
              <a:t> pe o </a:t>
            </a:r>
            <a:r>
              <a:rPr lang="en-US" dirty="0" err="1">
                <a:ea typeface="+mn-lt"/>
                <a:cs typeface="+mn-lt"/>
              </a:rPr>
              <a:t>hartă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memorată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Timpul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scanării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mintale</a:t>
            </a:r>
            <a:r>
              <a:rPr lang="en-US" dirty="0">
                <a:ea typeface="+mn-lt"/>
                <a:cs typeface="+mn-lt"/>
              </a:rPr>
              <a:t> s-a </a:t>
            </a:r>
            <a:r>
              <a:rPr lang="en-US" dirty="0" err="1">
                <a:ea typeface="+mn-lt"/>
                <a:cs typeface="+mn-lt"/>
              </a:rPr>
              <a:t>dovedit</a:t>
            </a:r>
            <a:r>
              <a:rPr lang="en-US" dirty="0">
                <a:ea typeface="+mn-lt"/>
                <a:cs typeface="+mn-lt"/>
              </a:rPr>
              <a:t> direct </a:t>
            </a:r>
            <a:r>
              <a:rPr lang="en-US" dirty="0" err="1">
                <a:ea typeface="+mn-lt"/>
                <a:cs typeface="+mn-lt"/>
              </a:rPr>
              <a:t>proporțional</a:t>
            </a:r>
            <a:r>
              <a:rPr lang="en-US" dirty="0">
                <a:ea typeface="+mn-lt"/>
                <a:cs typeface="+mn-lt"/>
              </a:rPr>
              <a:t> cu </a:t>
            </a:r>
            <a:r>
              <a:rPr lang="en-US" dirty="0" err="1">
                <a:ea typeface="+mn-lt"/>
                <a:cs typeface="+mn-lt"/>
              </a:rPr>
              <a:t>distanța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fizică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reală</a:t>
            </a:r>
            <a:r>
              <a:rPr lang="en-US" dirty="0">
                <a:ea typeface="+mn-lt"/>
                <a:cs typeface="+mn-lt"/>
              </a:rPr>
              <a:t> de pe </a:t>
            </a:r>
            <a:r>
              <a:rPr lang="en-US" dirty="0" err="1">
                <a:ea typeface="+mn-lt"/>
                <a:cs typeface="+mn-lt"/>
              </a:rPr>
              <a:t>hartă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Aceste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rezultate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confirmă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stochează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informația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</a:t>
            </a:r>
            <a:r>
              <a:rPr lang="en-US" dirty="0">
                <a:ea typeface="+mn-lt"/>
                <a:cs typeface="+mn-lt"/>
              </a:rPr>
              <a:t>-un format care </a:t>
            </a:r>
            <a:r>
              <a:rPr lang="en-US" dirty="0" err="1">
                <a:ea typeface="+mn-lt"/>
                <a:cs typeface="+mn-lt"/>
              </a:rPr>
              <a:t>păstrează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fidel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relațiile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metrice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topografice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Funcționând</a:t>
            </a:r>
            <a:r>
              <a:rPr lang="en-US" dirty="0">
                <a:ea typeface="+mn-lt"/>
                <a:cs typeface="+mn-lt"/>
              </a:rPr>
              <a:t> ca un analog </a:t>
            </a:r>
            <a:r>
              <a:rPr lang="en-US" dirty="0" err="1">
                <a:ea typeface="+mn-lt"/>
                <a:cs typeface="+mn-lt"/>
              </a:rPr>
              <a:t>spațial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contrazice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teoriile</a:t>
            </a:r>
            <a:r>
              <a:rPr lang="en-US" dirty="0">
                <a:ea typeface="+mn-lt"/>
                <a:cs typeface="+mn-lt"/>
              </a:rPr>
              <a:t> care </a:t>
            </a:r>
            <a:r>
              <a:rPr lang="en-US" dirty="0" err="1">
                <a:ea typeface="+mn-lt"/>
                <a:cs typeface="+mn-lt"/>
              </a:rPr>
              <a:t>reduceau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mintală</a:t>
            </a:r>
            <a:r>
              <a:rPr lang="en-US" dirty="0">
                <a:ea typeface="+mn-lt"/>
                <a:cs typeface="+mn-lt"/>
              </a:rPr>
              <a:t> la simple </a:t>
            </a:r>
            <a:r>
              <a:rPr lang="en-US" dirty="0" err="1">
                <a:ea typeface="+mn-lt"/>
                <a:cs typeface="+mn-lt"/>
              </a:rPr>
              <a:t>coduri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semantice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fără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extensie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spațială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6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BFB6-CF9B-3BD7-1A49-AD85CF2A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De la </a:t>
            </a:r>
            <a:r>
              <a:rPr lang="en-US" dirty="0" err="1">
                <a:ea typeface="+mj-lt"/>
                <a:cs typeface="+mj-lt"/>
              </a:rPr>
              <a:t>Fragmentar</a:t>
            </a:r>
            <a:r>
              <a:rPr lang="en-US" dirty="0">
                <a:ea typeface="+mj-lt"/>
                <a:cs typeface="+mj-lt"/>
              </a:rPr>
              <a:t> la </a:t>
            </a:r>
            <a:r>
              <a:rPr lang="en-US" dirty="0" err="1">
                <a:ea typeface="+mj-lt"/>
                <a:cs typeface="+mj-lt"/>
              </a:rPr>
              <a:t>Generalizat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96536-4323-CCF4-556B-A9F08EE6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Herman Ebbinghaus </a:t>
            </a:r>
            <a:r>
              <a:rPr lang="en-US" dirty="0" err="1">
                <a:ea typeface="+mn-lt"/>
                <a:cs typeface="+mn-lt"/>
              </a:rPr>
              <a:t>considera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inferioară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percepției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descriind</a:t>
            </a:r>
            <a:r>
              <a:rPr lang="en-US" dirty="0">
                <a:ea typeface="+mn-lt"/>
                <a:cs typeface="+mn-lt"/>
              </a:rPr>
              <a:t>-o ca </a:t>
            </a:r>
            <a:r>
              <a:rPr lang="en-US" dirty="0" err="1">
                <a:ea typeface="+mn-lt"/>
                <a:cs typeface="+mn-lt"/>
              </a:rPr>
              <a:t>fiind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palidă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fragmentară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instabilă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Psihologia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cognitivă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reinterpretează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caracteristici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aparente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drept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avantaj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adaptativ</a:t>
            </a:r>
            <a:r>
              <a:rPr lang="en-US" dirty="0">
                <a:ea typeface="+mn-lt"/>
                <a:cs typeface="+mn-lt"/>
              </a:rPr>
              <a:t> major: </a:t>
            </a:r>
            <a:r>
              <a:rPr lang="en-US" dirty="0" err="1">
                <a:ea typeface="+mn-lt"/>
                <a:cs typeface="+mn-lt"/>
              </a:rPr>
              <a:t>schematizarea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Prin </a:t>
            </a:r>
            <a:r>
              <a:rPr lang="en-US" dirty="0" err="1">
                <a:ea typeface="+mn-lt"/>
                <a:cs typeface="+mn-lt"/>
              </a:rPr>
              <a:t>eliminarea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detaliilor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accidentale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standardizarea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dimensiunilor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accentuează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trăsăturile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funcționale</a:t>
            </a:r>
            <a:r>
              <a:rPr lang="en-US" dirty="0">
                <a:ea typeface="+mn-lt"/>
                <a:cs typeface="+mn-lt"/>
              </a:rPr>
              <a:t> ale </a:t>
            </a:r>
            <a:r>
              <a:rPr lang="en-US" dirty="0" err="1">
                <a:ea typeface="+mn-lt"/>
                <a:cs typeface="+mn-lt"/>
              </a:rPr>
              <a:t>obiectului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Acest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generalizare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transformă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</a:t>
            </a:r>
            <a:r>
              <a:rPr lang="en-US" dirty="0">
                <a:ea typeface="+mn-lt"/>
                <a:cs typeface="+mn-lt"/>
              </a:rPr>
              <a:t>-o </a:t>
            </a:r>
            <a:r>
              <a:rPr lang="en-US" dirty="0" err="1">
                <a:ea typeface="+mn-lt"/>
                <a:cs typeface="+mn-lt"/>
              </a:rPr>
              <a:t>simplă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copie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degradată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</a:t>
            </a:r>
            <a:r>
              <a:rPr lang="en-US" dirty="0">
                <a:ea typeface="+mn-lt"/>
                <a:cs typeface="+mn-lt"/>
              </a:rPr>
              <a:t>-un instrument </a:t>
            </a:r>
            <a:r>
              <a:rPr lang="en-US" dirty="0" err="1">
                <a:ea typeface="+mn-lt"/>
                <a:cs typeface="+mn-lt"/>
              </a:rPr>
              <a:t>flexibil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pregătind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terenul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operațiile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gândirii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abstracte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1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5779-53BA-C874-4E94-63BB4929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Rolul </a:t>
            </a:r>
            <a:r>
              <a:rPr lang="en-US" dirty="0" err="1">
                <a:ea typeface="+mj-lt"/>
                <a:cs typeface="+mj-lt"/>
              </a:rPr>
              <a:t>Acțiunii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Ideomotricitatea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B13E7-ACCE-83BC-88B6-F7C5772D5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Paul Popescu-</a:t>
            </a:r>
            <a:r>
              <a:rPr lang="en-US" dirty="0" err="1">
                <a:ea typeface="+mn-lt"/>
                <a:cs typeface="+mn-lt"/>
              </a:rPr>
              <a:t>Neveanu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definit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acțiunea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drept</a:t>
            </a:r>
            <a:r>
              <a:rPr lang="en-US" dirty="0">
                <a:ea typeface="+mn-lt"/>
                <a:cs typeface="+mn-lt"/>
              </a:rPr>
              <a:t> „</a:t>
            </a:r>
            <a:r>
              <a:rPr lang="en-US" dirty="0" err="1">
                <a:ea typeface="+mn-lt"/>
                <a:cs typeface="+mn-lt"/>
              </a:rPr>
              <a:t>mediul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incubație</a:t>
            </a:r>
            <a:r>
              <a:rPr lang="en-US" dirty="0">
                <a:ea typeface="+mn-lt"/>
                <a:cs typeface="+mn-lt"/>
              </a:rPr>
              <a:t>” al </a:t>
            </a:r>
            <a:r>
              <a:rPr lang="en-US" dirty="0" err="1">
                <a:ea typeface="+mn-lt"/>
                <a:cs typeface="+mn-lt"/>
              </a:rPr>
              <a:t>reprezentării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Imaginile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mintale</a:t>
            </a:r>
            <a:r>
              <a:rPr lang="en-US" dirty="0">
                <a:ea typeface="+mn-lt"/>
                <a:cs typeface="+mn-lt"/>
              </a:rPr>
              <a:t> nu apar din </a:t>
            </a:r>
            <a:r>
              <a:rPr lang="en-US" dirty="0" err="1">
                <a:ea typeface="+mn-lt"/>
                <a:cs typeface="+mn-lt"/>
              </a:rPr>
              <a:t>nimic</a:t>
            </a:r>
            <a:r>
              <a:rPr lang="en-US" dirty="0">
                <a:ea typeface="+mn-lt"/>
                <a:cs typeface="+mn-lt"/>
              </a:rPr>
              <a:t>, ci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interiorizarea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schemelor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senzorio-motorii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dobândite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manipularea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obiectelor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blocarea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acțiunii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inhibând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imaginii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Legătura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dintre</a:t>
            </a:r>
            <a:r>
              <a:rPr lang="en-US" dirty="0">
                <a:ea typeface="+mn-lt"/>
                <a:cs typeface="+mn-lt"/>
              </a:rPr>
              <a:t> mental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fizic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evidențiată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ideomotricitate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Simpla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imaginare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unei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mișcări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declanșează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microcontracții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musculare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specifice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grupele</a:t>
            </a:r>
            <a:r>
              <a:rPr lang="en-US" dirty="0">
                <a:ea typeface="+mn-lt"/>
                <a:cs typeface="+mn-lt"/>
              </a:rPr>
              <a:t> implicate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execuția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demonstrând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proces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activ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angrenează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întregul</a:t>
            </a:r>
            <a:r>
              <a:rPr lang="en-US" dirty="0">
                <a:ea typeface="+mn-lt"/>
                <a:cs typeface="+mn-lt"/>
              </a:rPr>
              <a:t> organism.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8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6832-04D5-426B-5114-B3114F67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Operativitate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Panoramizare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A3B83-E18C-1999-9B60-22696E2F6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Jean Piaget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B.F. Lomov au </a:t>
            </a:r>
            <a:r>
              <a:rPr lang="en-US" dirty="0" err="1">
                <a:ea typeface="+mn-lt"/>
                <a:cs typeface="+mn-lt"/>
              </a:rPr>
              <a:t>definit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studiat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două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proprietăți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superioare</a:t>
            </a:r>
            <a:r>
              <a:rPr lang="en-US" dirty="0">
                <a:ea typeface="+mn-lt"/>
                <a:cs typeface="+mn-lt"/>
              </a:rPr>
              <a:t> ale </a:t>
            </a:r>
            <a:r>
              <a:rPr lang="en-US" dirty="0" err="1">
                <a:ea typeface="+mn-lt"/>
                <a:cs typeface="+mn-lt"/>
              </a:rPr>
              <a:t>reprezentării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operativitatea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panoramirizarea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Piaget a </a:t>
            </a:r>
            <a:r>
              <a:rPr lang="en-US" err="1">
                <a:ea typeface="+mn-lt"/>
                <a:cs typeface="+mn-lt"/>
              </a:rPr>
              <a:t>definit</a:t>
            </a:r>
            <a:r>
              <a:rPr lang="en-US">
                <a:ea typeface="+mn-lt"/>
                <a:cs typeface="+mn-lt"/>
              </a:rPr>
              <a:t> operativitatea ca fiind capacitatea de a coordona transformări mentale și de a anticipa rezultate. Aceasta permite simultaneizarea succesivului (vizualizarea globală a unui proces) sau desfășurarea unei structuri statice în timp.</a:t>
            </a:r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B.F. Lomov a </a:t>
            </a:r>
            <a:r>
              <a:rPr lang="en-US" dirty="0" err="1">
                <a:ea typeface="+mn-lt"/>
                <a:cs typeface="+mn-lt"/>
              </a:rPr>
              <a:t>introdus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conceptul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panoramizare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referindu</a:t>
            </a:r>
            <a:r>
              <a:rPr lang="en-US" dirty="0">
                <a:ea typeface="+mn-lt"/>
                <a:cs typeface="+mn-lt"/>
              </a:rPr>
              <a:t>-se la </a:t>
            </a:r>
            <a:r>
              <a:rPr lang="en-US" dirty="0" err="1">
                <a:ea typeface="+mn-lt"/>
                <a:cs typeface="+mn-lt"/>
              </a:rPr>
              <a:t>capacitatea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 integra mental </a:t>
            </a:r>
            <a:r>
              <a:rPr lang="en-US" dirty="0" err="1">
                <a:ea typeface="+mn-lt"/>
                <a:cs typeface="+mn-lt"/>
              </a:rPr>
              <a:t>toate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dimensiunile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obiect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Spre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deosebire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percepție</a:t>
            </a:r>
            <a:r>
              <a:rPr lang="en-US" dirty="0">
                <a:ea typeface="+mn-lt"/>
                <a:cs typeface="+mn-lt"/>
              </a:rPr>
              <a:t>, care </a:t>
            </a:r>
            <a:r>
              <a:rPr lang="en-US" dirty="0" err="1">
                <a:ea typeface="+mn-lt"/>
                <a:cs typeface="+mn-lt"/>
              </a:rPr>
              <a:t>oferă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perspectiva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imediată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reprezentarea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vizualizarea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întregii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structurii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19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8930-0929-5F44-6D2D-9D358DCA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Clasificare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Codare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Duală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AACD-58A3-E7EB-109F-079BE0EC7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Allan </a:t>
            </a:r>
            <a:r>
              <a:rPr lang="en-US" dirty="0" err="1">
                <a:ea typeface="+mn-lt"/>
                <a:cs typeface="+mn-lt"/>
              </a:rPr>
              <a:t>Paivio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propus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teoria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codării</a:t>
            </a:r>
            <a:r>
              <a:rPr lang="en-US" dirty="0">
                <a:ea typeface="+mn-lt"/>
                <a:cs typeface="+mn-lt"/>
              </a:rPr>
              <a:t> duale, </a:t>
            </a:r>
            <a:r>
              <a:rPr lang="en-US" dirty="0" err="1">
                <a:ea typeface="+mn-lt"/>
                <a:cs typeface="+mn-lt"/>
              </a:rPr>
              <a:t>distingând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între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verbal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unul</a:t>
            </a:r>
            <a:r>
              <a:rPr lang="en-US" dirty="0">
                <a:ea typeface="+mn-lt"/>
                <a:cs typeface="+mn-lt"/>
              </a:rPr>
              <a:t> nonverbal (imagistic) de </a:t>
            </a:r>
            <a:r>
              <a:rPr lang="en-US" dirty="0" err="1">
                <a:ea typeface="+mn-lt"/>
                <a:cs typeface="+mn-lt"/>
              </a:rPr>
              <a:t>procesare</a:t>
            </a:r>
            <a:r>
              <a:rPr lang="en-US" dirty="0">
                <a:ea typeface="+mn-lt"/>
                <a:cs typeface="+mn-lt"/>
              </a:rPr>
              <a:t>. Eysenck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Keane au </a:t>
            </a:r>
            <a:r>
              <a:rPr lang="en-US" dirty="0" err="1">
                <a:ea typeface="+mn-lt"/>
                <a:cs typeface="+mn-lt"/>
              </a:rPr>
              <a:t>rafinat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clasificarea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reprezentări</a:t>
            </a:r>
            <a:r>
              <a:rPr lang="en-US" dirty="0">
                <a:ea typeface="+mn-lt"/>
                <a:cs typeface="+mn-lt"/>
              </a:rPr>
              <a:t> externe (</a:t>
            </a:r>
            <a:r>
              <a:rPr lang="en-US" dirty="0" err="1">
                <a:ea typeface="+mn-lt"/>
                <a:cs typeface="+mn-lt"/>
              </a:rPr>
              <a:t>picturale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lingvistice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interne (</a:t>
            </a:r>
            <a:r>
              <a:rPr lang="en-US" dirty="0" err="1">
                <a:ea typeface="+mn-lt"/>
                <a:cs typeface="+mn-lt"/>
              </a:rPr>
              <a:t>analogice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propoziționale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endParaRPr lang="en-US"/>
          </a:p>
          <a:p>
            <a:r>
              <a:rPr lang="en-US" dirty="0" err="1">
                <a:ea typeface="+mn-lt"/>
                <a:cs typeface="+mn-lt"/>
              </a:rPr>
              <a:t>Această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flexibilitate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sistemului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cognitiv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alterneze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formate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hărțile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mintale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spațiale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orientare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și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structurile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propoziționale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abstracte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înțelegerea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conceptelor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Interacțiunea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dintre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coduri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asigură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adaptarea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rapidă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sarcini</a:t>
            </a:r>
            <a:r>
              <a:rPr lang="en-US" dirty="0">
                <a:ea typeface="+mn-lt"/>
                <a:cs typeface="+mn-lt"/>
              </a:rPr>
              <a:t> diverse.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372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Geneza Reprezentării </vt:lpstr>
      <vt:lpstr>Distincția dintre Realitate și Reprezentare </vt:lpstr>
      <vt:lpstr>Similaritatea Percepție - Reprezentare</vt:lpstr>
      <vt:lpstr>Competiție și Rol Inferențial</vt:lpstr>
      <vt:lpstr>Natura Imaginii</vt:lpstr>
      <vt:lpstr>Proprietăți Metrice</vt:lpstr>
      <vt:lpstr>De la Fragmentar la Generalizat</vt:lpstr>
      <vt:lpstr>Rolul Acțiunii și Ideomotricitatea</vt:lpstr>
      <vt:lpstr>Operativitate și Panoramizare</vt:lpstr>
      <vt:lpstr>Clasificare și Codare Duală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created xsi:type="dcterms:W3CDTF">2026-01-05T03:04:56Z</dcterms:created>
  <dcterms:modified xsi:type="dcterms:W3CDTF">2026-01-05T03:11:08Z</dcterms:modified>
</cp:coreProperties>
</file>